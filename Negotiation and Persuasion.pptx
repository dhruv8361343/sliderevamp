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76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ruv gupta" userId="45fa6c7c410acead" providerId="LiveId" clId="{5CE7D253-D607-45F0-901A-5A05BD682EE9}"/>
    <pc:docChg chg="custSel modSld">
      <pc:chgData name="dhruv gupta" userId="45fa6c7c410acead" providerId="LiveId" clId="{5CE7D253-D607-45F0-901A-5A05BD682EE9}" dt="2026-01-05T14:41:44.722" v="2" actId="478"/>
      <pc:docMkLst>
        <pc:docMk/>
      </pc:docMkLst>
      <pc:sldChg chg="delSp mod">
        <pc:chgData name="dhruv gupta" userId="45fa6c7c410acead" providerId="LiveId" clId="{5CE7D253-D607-45F0-901A-5A05BD682EE9}" dt="2026-01-05T14:41:44.722" v="2" actId="478"/>
        <pc:sldMkLst>
          <pc:docMk/>
          <pc:sldMk cId="2012329623" sldId="261"/>
        </pc:sldMkLst>
        <pc:picChg chg="del">
          <ac:chgData name="dhruv gupta" userId="45fa6c7c410acead" providerId="LiveId" clId="{5CE7D253-D607-45F0-901A-5A05BD682EE9}" dt="2026-01-05T14:41:44.722" v="2" actId="478"/>
          <ac:picMkLst>
            <pc:docMk/>
            <pc:sldMk cId="2012329623" sldId="261"/>
            <ac:picMk id="6" creationId="{E0C7AE42-DAC5-30C0-C3E9-214E328BB2E7}"/>
          </ac:picMkLst>
        </pc:picChg>
      </pc:sldChg>
      <pc:sldChg chg="modSp mod">
        <pc:chgData name="dhruv gupta" userId="45fa6c7c410acead" providerId="LiveId" clId="{5CE7D253-D607-45F0-901A-5A05BD682EE9}" dt="2026-01-05T10:40:02.702" v="1" actId="1076"/>
        <pc:sldMkLst>
          <pc:docMk/>
          <pc:sldMk cId="3843779220" sldId="262"/>
        </pc:sldMkLst>
        <pc:picChg chg="mod">
          <ac:chgData name="dhruv gupta" userId="45fa6c7c410acead" providerId="LiveId" clId="{5CE7D253-D607-45F0-901A-5A05BD682EE9}" dt="2026-01-05T10:40:02.702" v="1" actId="1076"/>
          <ac:picMkLst>
            <pc:docMk/>
            <pc:sldMk cId="3843779220" sldId="262"/>
            <ac:picMk id="8" creationId="{84B1990C-082E-9B11-CF44-2677C150067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685A0-EEEF-4FA0-4BE0-A63A412B46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B680E40-12B8-1DCC-03B0-4A373B7A46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B532A43-4260-E82D-6ACC-7510386A365F}"/>
              </a:ext>
            </a:extLst>
          </p:cNvPr>
          <p:cNvSpPr>
            <a:spLocks noGrp="1"/>
          </p:cNvSpPr>
          <p:nvPr>
            <p:ph type="dt" sz="half" idx="10"/>
          </p:nvPr>
        </p:nvSpPr>
        <p:spPr/>
        <p:txBody>
          <a:bodyPr/>
          <a:lstStyle/>
          <a:p>
            <a:fld id="{4FE82CAD-E29D-48B2-84D3-3D67D2931523}" type="datetimeFigureOut">
              <a:rPr lang="en-IN" smtClean="0"/>
              <a:t>05-01-2026</a:t>
            </a:fld>
            <a:endParaRPr lang="en-IN"/>
          </a:p>
        </p:txBody>
      </p:sp>
      <p:sp>
        <p:nvSpPr>
          <p:cNvPr id="5" name="Footer Placeholder 4">
            <a:extLst>
              <a:ext uri="{FF2B5EF4-FFF2-40B4-BE49-F238E27FC236}">
                <a16:creationId xmlns:a16="http://schemas.microsoft.com/office/drawing/2014/main" id="{2151B53A-D0AD-0A36-2A14-4AD6C3DF84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A2AF32-BC20-962C-1D45-391EBA5AA8E4}"/>
              </a:ext>
            </a:extLst>
          </p:cNvPr>
          <p:cNvSpPr>
            <a:spLocks noGrp="1"/>
          </p:cNvSpPr>
          <p:nvPr>
            <p:ph type="sldNum" sz="quarter" idx="12"/>
          </p:nvPr>
        </p:nvSpPr>
        <p:spPr/>
        <p:txBody>
          <a:bodyPr/>
          <a:lstStyle/>
          <a:p>
            <a:fld id="{E5637FB0-FF7F-4211-A966-AA3CE95C9BC2}" type="slidenum">
              <a:rPr lang="en-IN" smtClean="0"/>
              <a:t>‹#›</a:t>
            </a:fld>
            <a:endParaRPr lang="en-IN"/>
          </a:p>
        </p:txBody>
      </p:sp>
    </p:spTree>
    <p:extLst>
      <p:ext uri="{BB962C8B-B14F-4D97-AF65-F5344CB8AC3E}">
        <p14:creationId xmlns:p14="http://schemas.microsoft.com/office/powerpoint/2010/main" val="3717515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0885E-1466-0292-5DCA-04033179AF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D1D923-099A-DB5D-A154-C5323AF50E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5F3488-FC1A-E808-2224-A89397F8E200}"/>
              </a:ext>
            </a:extLst>
          </p:cNvPr>
          <p:cNvSpPr>
            <a:spLocks noGrp="1"/>
          </p:cNvSpPr>
          <p:nvPr>
            <p:ph type="dt" sz="half" idx="10"/>
          </p:nvPr>
        </p:nvSpPr>
        <p:spPr/>
        <p:txBody>
          <a:bodyPr/>
          <a:lstStyle/>
          <a:p>
            <a:fld id="{4FE82CAD-E29D-48B2-84D3-3D67D2931523}" type="datetimeFigureOut">
              <a:rPr lang="en-IN" smtClean="0"/>
              <a:t>05-01-2026</a:t>
            </a:fld>
            <a:endParaRPr lang="en-IN"/>
          </a:p>
        </p:txBody>
      </p:sp>
      <p:sp>
        <p:nvSpPr>
          <p:cNvPr id="5" name="Footer Placeholder 4">
            <a:extLst>
              <a:ext uri="{FF2B5EF4-FFF2-40B4-BE49-F238E27FC236}">
                <a16:creationId xmlns:a16="http://schemas.microsoft.com/office/drawing/2014/main" id="{962E5C49-B2D0-FFDE-B656-C9BC998E03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165461-9BAA-8858-5361-C5E57AFB9B82}"/>
              </a:ext>
            </a:extLst>
          </p:cNvPr>
          <p:cNvSpPr>
            <a:spLocks noGrp="1"/>
          </p:cNvSpPr>
          <p:nvPr>
            <p:ph type="sldNum" sz="quarter" idx="12"/>
          </p:nvPr>
        </p:nvSpPr>
        <p:spPr/>
        <p:txBody>
          <a:bodyPr/>
          <a:lstStyle/>
          <a:p>
            <a:fld id="{E5637FB0-FF7F-4211-A966-AA3CE95C9BC2}" type="slidenum">
              <a:rPr lang="en-IN" smtClean="0"/>
              <a:t>‹#›</a:t>
            </a:fld>
            <a:endParaRPr lang="en-IN"/>
          </a:p>
        </p:txBody>
      </p:sp>
    </p:spTree>
    <p:extLst>
      <p:ext uri="{BB962C8B-B14F-4D97-AF65-F5344CB8AC3E}">
        <p14:creationId xmlns:p14="http://schemas.microsoft.com/office/powerpoint/2010/main" val="647401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0C841-6C85-E0B5-3B54-96914C9F48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370C702-CD89-AAEB-4ABC-F3213B9749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00A85B-71DC-C080-197F-D4BDE5B09D89}"/>
              </a:ext>
            </a:extLst>
          </p:cNvPr>
          <p:cNvSpPr>
            <a:spLocks noGrp="1"/>
          </p:cNvSpPr>
          <p:nvPr>
            <p:ph type="dt" sz="half" idx="10"/>
          </p:nvPr>
        </p:nvSpPr>
        <p:spPr/>
        <p:txBody>
          <a:bodyPr/>
          <a:lstStyle/>
          <a:p>
            <a:fld id="{4FE82CAD-E29D-48B2-84D3-3D67D2931523}" type="datetimeFigureOut">
              <a:rPr lang="en-IN" smtClean="0"/>
              <a:t>05-01-2026</a:t>
            </a:fld>
            <a:endParaRPr lang="en-IN"/>
          </a:p>
        </p:txBody>
      </p:sp>
      <p:sp>
        <p:nvSpPr>
          <p:cNvPr id="5" name="Footer Placeholder 4">
            <a:extLst>
              <a:ext uri="{FF2B5EF4-FFF2-40B4-BE49-F238E27FC236}">
                <a16:creationId xmlns:a16="http://schemas.microsoft.com/office/drawing/2014/main" id="{B1E69E9E-BAB5-E78B-D20C-AF3F15C41E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AAE12A-B624-5E24-0B27-37021D100D86}"/>
              </a:ext>
            </a:extLst>
          </p:cNvPr>
          <p:cNvSpPr>
            <a:spLocks noGrp="1"/>
          </p:cNvSpPr>
          <p:nvPr>
            <p:ph type="sldNum" sz="quarter" idx="12"/>
          </p:nvPr>
        </p:nvSpPr>
        <p:spPr/>
        <p:txBody>
          <a:bodyPr/>
          <a:lstStyle/>
          <a:p>
            <a:fld id="{E5637FB0-FF7F-4211-A966-AA3CE95C9BC2}" type="slidenum">
              <a:rPr lang="en-IN" smtClean="0"/>
              <a:t>‹#›</a:t>
            </a:fld>
            <a:endParaRPr lang="en-IN"/>
          </a:p>
        </p:txBody>
      </p:sp>
    </p:spTree>
    <p:extLst>
      <p:ext uri="{BB962C8B-B14F-4D97-AF65-F5344CB8AC3E}">
        <p14:creationId xmlns:p14="http://schemas.microsoft.com/office/powerpoint/2010/main" val="2521694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89B0F-8D07-ABE1-78CA-8740537248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106F01-3BD5-6558-C0F0-A99C9C3D04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84BB0CF-1A61-897B-E727-B68DF94F1A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FD7A438-451A-75F2-3ED6-50D7477D9906}"/>
              </a:ext>
            </a:extLst>
          </p:cNvPr>
          <p:cNvSpPr>
            <a:spLocks noGrp="1"/>
          </p:cNvSpPr>
          <p:nvPr>
            <p:ph type="dt" sz="half" idx="10"/>
          </p:nvPr>
        </p:nvSpPr>
        <p:spPr/>
        <p:txBody>
          <a:bodyPr/>
          <a:lstStyle/>
          <a:p>
            <a:fld id="{4FE82CAD-E29D-48B2-84D3-3D67D2931523}" type="datetimeFigureOut">
              <a:rPr lang="en-IN" smtClean="0"/>
              <a:t>05-01-2026</a:t>
            </a:fld>
            <a:endParaRPr lang="en-IN"/>
          </a:p>
        </p:txBody>
      </p:sp>
      <p:sp>
        <p:nvSpPr>
          <p:cNvPr id="6" name="Footer Placeholder 5">
            <a:extLst>
              <a:ext uri="{FF2B5EF4-FFF2-40B4-BE49-F238E27FC236}">
                <a16:creationId xmlns:a16="http://schemas.microsoft.com/office/drawing/2014/main" id="{156EA766-59A1-9579-A29F-B003690E00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D052BC-5339-0A1C-581C-3504AEAB1F0A}"/>
              </a:ext>
            </a:extLst>
          </p:cNvPr>
          <p:cNvSpPr>
            <a:spLocks noGrp="1"/>
          </p:cNvSpPr>
          <p:nvPr>
            <p:ph type="sldNum" sz="quarter" idx="12"/>
          </p:nvPr>
        </p:nvSpPr>
        <p:spPr/>
        <p:txBody>
          <a:bodyPr/>
          <a:lstStyle/>
          <a:p>
            <a:fld id="{E5637FB0-FF7F-4211-A966-AA3CE95C9BC2}" type="slidenum">
              <a:rPr lang="en-IN" smtClean="0"/>
              <a:t>‹#›</a:t>
            </a:fld>
            <a:endParaRPr lang="en-IN"/>
          </a:p>
        </p:txBody>
      </p:sp>
    </p:spTree>
    <p:extLst>
      <p:ext uri="{BB962C8B-B14F-4D97-AF65-F5344CB8AC3E}">
        <p14:creationId xmlns:p14="http://schemas.microsoft.com/office/powerpoint/2010/main" val="340042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80B73-2B74-926E-D026-B0BDE994E79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AB2252-52E7-1105-A735-42E8C5591E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00C614-D80D-9896-2E4E-3AFAE0FF44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0194A3-BFC3-1C32-F461-E2019AE212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E8F5BE-25C3-5D45-796A-A715FE3507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6EC33E-EBEC-F509-7F82-24B9056D1287}"/>
              </a:ext>
            </a:extLst>
          </p:cNvPr>
          <p:cNvSpPr>
            <a:spLocks noGrp="1"/>
          </p:cNvSpPr>
          <p:nvPr>
            <p:ph type="dt" sz="half" idx="10"/>
          </p:nvPr>
        </p:nvSpPr>
        <p:spPr/>
        <p:txBody>
          <a:bodyPr/>
          <a:lstStyle/>
          <a:p>
            <a:fld id="{4FE82CAD-E29D-48B2-84D3-3D67D2931523}" type="datetimeFigureOut">
              <a:rPr lang="en-IN" smtClean="0"/>
              <a:t>05-01-2026</a:t>
            </a:fld>
            <a:endParaRPr lang="en-IN"/>
          </a:p>
        </p:txBody>
      </p:sp>
      <p:sp>
        <p:nvSpPr>
          <p:cNvPr id="8" name="Footer Placeholder 7">
            <a:extLst>
              <a:ext uri="{FF2B5EF4-FFF2-40B4-BE49-F238E27FC236}">
                <a16:creationId xmlns:a16="http://schemas.microsoft.com/office/drawing/2014/main" id="{B4D207E6-E25B-381E-431E-D4C90FFDB4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8249F97-5440-2A33-7C3A-BB72F974793F}"/>
              </a:ext>
            </a:extLst>
          </p:cNvPr>
          <p:cNvSpPr>
            <a:spLocks noGrp="1"/>
          </p:cNvSpPr>
          <p:nvPr>
            <p:ph type="sldNum" sz="quarter" idx="12"/>
          </p:nvPr>
        </p:nvSpPr>
        <p:spPr/>
        <p:txBody>
          <a:bodyPr/>
          <a:lstStyle/>
          <a:p>
            <a:fld id="{E5637FB0-FF7F-4211-A966-AA3CE95C9BC2}" type="slidenum">
              <a:rPr lang="en-IN" smtClean="0"/>
              <a:t>‹#›</a:t>
            </a:fld>
            <a:endParaRPr lang="en-IN"/>
          </a:p>
        </p:txBody>
      </p:sp>
    </p:spTree>
    <p:extLst>
      <p:ext uri="{BB962C8B-B14F-4D97-AF65-F5344CB8AC3E}">
        <p14:creationId xmlns:p14="http://schemas.microsoft.com/office/powerpoint/2010/main" val="3958523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834DE-A369-3EB2-7021-7E048F88A95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11AE9B1-C96B-609D-4389-F5012B4B5C7F}"/>
              </a:ext>
            </a:extLst>
          </p:cNvPr>
          <p:cNvSpPr>
            <a:spLocks noGrp="1"/>
          </p:cNvSpPr>
          <p:nvPr>
            <p:ph type="dt" sz="half" idx="10"/>
          </p:nvPr>
        </p:nvSpPr>
        <p:spPr/>
        <p:txBody>
          <a:bodyPr/>
          <a:lstStyle/>
          <a:p>
            <a:fld id="{4FE82CAD-E29D-48B2-84D3-3D67D2931523}" type="datetimeFigureOut">
              <a:rPr lang="en-IN" smtClean="0"/>
              <a:t>05-01-2026</a:t>
            </a:fld>
            <a:endParaRPr lang="en-IN"/>
          </a:p>
        </p:txBody>
      </p:sp>
      <p:sp>
        <p:nvSpPr>
          <p:cNvPr id="4" name="Footer Placeholder 3">
            <a:extLst>
              <a:ext uri="{FF2B5EF4-FFF2-40B4-BE49-F238E27FC236}">
                <a16:creationId xmlns:a16="http://schemas.microsoft.com/office/drawing/2014/main" id="{2038523F-E13E-2822-0029-032C08A5E50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F4908CA-6E6A-0EED-C122-2F13ACE05AF4}"/>
              </a:ext>
            </a:extLst>
          </p:cNvPr>
          <p:cNvSpPr>
            <a:spLocks noGrp="1"/>
          </p:cNvSpPr>
          <p:nvPr>
            <p:ph type="sldNum" sz="quarter" idx="12"/>
          </p:nvPr>
        </p:nvSpPr>
        <p:spPr/>
        <p:txBody>
          <a:bodyPr/>
          <a:lstStyle/>
          <a:p>
            <a:fld id="{E5637FB0-FF7F-4211-A966-AA3CE95C9BC2}" type="slidenum">
              <a:rPr lang="en-IN" smtClean="0"/>
              <a:t>‹#›</a:t>
            </a:fld>
            <a:endParaRPr lang="en-IN"/>
          </a:p>
        </p:txBody>
      </p:sp>
    </p:spTree>
    <p:extLst>
      <p:ext uri="{BB962C8B-B14F-4D97-AF65-F5344CB8AC3E}">
        <p14:creationId xmlns:p14="http://schemas.microsoft.com/office/powerpoint/2010/main" val="3153806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751C3E-43F0-4542-FFB8-5167E93AC3A6}"/>
              </a:ext>
            </a:extLst>
          </p:cNvPr>
          <p:cNvSpPr>
            <a:spLocks noGrp="1"/>
          </p:cNvSpPr>
          <p:nvPr>
            <p:ph type="dt" sz="half" idx="10"/>
          </p:nvPr>
        </p:nvSpPr>
        <p:spPr/>
        <p:txBody>
          <a:bodyPr/>
          <a:lstStyle/>
          <a:p>
            <a:fld id="{4FE82CAD-E29D-48B2-84D3-3D67D2931523}" type="datetimeFigureOut">
              <a:rPr lang="en-IN" smtClean="0"/>
              <a:t>05-01-2026</a:t>
            </a:fld>
            <a:endParaRPr lang="en-IN"/>
          </a:p>
        </p:txBody>
      </p:sp>
      <p:sp>
        <p:nvSpPr>
          <p:cNvPr id="3" name="Footer Placeholder 2">
            <a:extLst>
              <a:ext uri="{FF2B5EF4-FFF2-40B4-BE49-F238E27FC236}">
                <a16:creationId xmlns:a16="http://schemas.microsoft.com/office/drawing/2014/main" id="{4A9116A4-BB6A-6546-FCC1-131A36EDCC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963705D-57D9-A49C-55CB-5757F16F8527}"/>
              </a:ext>
            </a:extLst>
          </p:cNvPr>
          <p:cNvSpPr>
            <a:spLocks noGrp="1"/>
          </p:cNvSpPr>
          <p:nvPr>
            <p:ph type="sldNum" sz="quarter" idx="12"/>
          </p:nvPr>
        </p:nvSpPr>
        <p:spPr/>
        <p:txBody>
          <a:bodyPr/>
          <a:lstStyle/>
          <a:p>
            <a:fld id="{E5637FB0-FF7F-4211-A966-AA3CE95C9BC2}" type="slidenum">
              <a:rPr lang="en-IN" smtClean="0"/>
              <a:t>‹#›</a:t>
            </a:fld>
            <a:endParaRPr lang="en-IN"/>
          </a:p>
        </p:txBody>
      </p:sp>
    </p:spTree>
    <p:extLst>
      <p:ext uri="{BB962C8B-B14F-4D97-AF65-F5344CB8AC3E}">
        <p14:creationId xmlns:p14="http://schemas.microsoft.com/office/powerpoint/2010/main" val="873904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74B8-66D3-CED9-9976-C2E4E1626C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3E8E7FB-D56F-523C-E7E6-E3AB7D01CF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9F9CD10-F031-5535-C2CD-F02E0219CD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774FA7-1D92-4060-09A9-0E061DFA6D5F}"/>
              </a:ext>
            </a:extLst>
          </p:cNvPr>
          <p:cNvSpPr>
            <a:spLocks noGrp="1"/>
          </p:cNvSpPr>
          <p:nvPr>
            <p:ph type="dt" sz="half" idx="10"/>
          </p:nvPr>
        </p:nvSpPr>
        <p:spPr/>
        <p:txBody>
          <a:bodyPr/>
          <a:lstStyle/>
          <a:p>
            <a:fld id="{4FE82CAD-E29D-48B2-84D3-3D67D2931523}" type="datetimeFigureOut">
              <a:rPr lang="en-IN" smtClean="0"/>
              <a:t>05-01-2026</a:t>
            </a:fld>
            <a:endParaRPr lang="en-IN"/>
          </a:p>
        </p:txBody>
      </p:sp>
      <p:sp>
        <p:nvSpPr>
          <p:cNvPr id="6" name="Footer Placeholder 5">
            <a:extLst>
              <a:ext uri="{FF2B5EF4-FFF2-40B4-BE49-F238E27FC236}">
                <a16:creationId xmlns:a16="http://schemas.microsoft.com/office/drawing/2014/main" id="{580E0806-BFAC-0D83-5435-150B2BC377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8836B5-C6BB-8C43-996E-722C83FB54FC}"/>
              </a:ext>
            </a:extLst>
          </p:cNvPr>
          <p:cNvSpPr>
            <a:spLocks noGrp="1"/>
          </p:cNvSpPr>
          <p:nvPr>
            <p:ph type="sldNum" sz="quarter" idx="12"/>
          </p:nvPr>
        </p:nvSpPr>
        <p:spPr/>
        <p:txBody>
          <a:bodyPr/>
          <a:lstStyle/>
          <a:p>
            <a:fld id="{E5637FB0-FF7F-4211-A966-AA3CE95C9BC2}" type="slidenum">
              <a:rPr lang="en-IN" smtClean="0"/>
              <a:t>‹#›</a:t>
            </a:fld>
            <a:endParaRPr lang="en-IN"/>
          </a:p>
        </p:txBody>
      </p:sp>
    </p:spTree>
    <p:extLst>
      <p:ext uri="{BB962C8B-B14F-4D97-AF65-F5344CB8AC3E}">
        <p14:creationId xmlns:p14="http://schemas.microsoft.com/office/powerpoint/2010/main" val="2426042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6E92E-1949-DD6C-C1C0-F3398FBA3F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74D4F25-B01C-CF85-0196-58D19590DB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A44E94-D98E-CBEE-9E44-3E167D58EC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2B89F3-BAE8-AB5D-6C82-1C040D107AA4}"/>
              </a:ext>
            </a:extLst>
          </p:cNvPr>
          <p:cNvSpPr>
            <a:spLocks noGrp="1"/>
          </p:cNvSpPr>
          <p:nvPr>
            <p:ph type="dt" sz="half" idx="10"/>
          </p:nvPr>
        </p:nvSpPr>
        <p:spPr/>
        <p:txBody>
          <a:bodyPr/>
          <a:lstStyle/>
          <a:p>
            <a:fld id="{4FE82CAD-E29D-48B2-84D3-3D67D2931523}" type="datetimeFigureOut">
              <a:rPr lang="en-IN" smtClean="0"/>
              <a:t>05-01-2026</a:t>
            </a:fld>
            <a:endParaRPr lang="en-IN"/>
          </a:p>
        </p:txBody>
      </p:sp>
      <p:sp>
        <p:nvSpPr>
          <p:cNvPr id="6" name="Footer Placeholder 5">
            <a:extLst>
              <a:ext uri="{FF2B5EF4-FFF2-40B4-BE49-F238E27FC236}">
                <a16:creationId xmlns:a16="http://schemas.microsoft.com/office/drawing/2014/main" id="{71A0AD6C-7078-280D-B0A8-CFED122498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30F2ED-8756-0900-714A-F8174F8A099F}"/>
              </a:ext>
            </a:extLst>
          </p:cNvPr>
          <p:cNvSpPr>
            <a:spLocks noGrp="1"/>
          </p:cNvSpPr>
          <p:nvPr>
            <p:ph type="sldNum" sz="quarter" idx="12"/>
          </p:nvPr>
        </p:nvSpPr>
        <p:spPr/>
        <p:txBody>
          <a:bodyPr/>
          <a:lstStyle/>
          <a:p>
            <a:fld id="{E5637FB0-FF7F-4211-A966-AA3CE95C9BC2}" type="slidenum">
              <a:rPr lang="en-IN" smtClean="0"/>
              <a:t>‹#›</a:t>
            </a:fld>
            <a:endParaRPr lang="en-IN"/>
          </a:p>
        </p:txBody>
      </p:sp>
    </p:spTree>
    <p:extLst>
      <p:ext uri="{BB962C8B-B14F-4D97-AF65-F5344CB8AC3E}">
        <p14:creationId xmlns:p14="http://schemas.microsoft.com/office/powerpoint/2010/main" val="119485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2DA9D-017A-95FC-2880-FD08ED9D7A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CC0EC6-7E12-38E6-BF04-B07AA416E9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C54FD3-AD05-F7F4-F7B6-96B1B2F69EA8}"/>
              </a:ext>
            </a:extLst>
          </p:cNvPr>
          <p:cNvSpPr>
            <a:spLocks noGrp="1"/>
          </p:cNvSpPr>
          <p:nvPr>
            <p:ph type="dt" sz="half" idx="10"/>
          </p:nvPr>
        </p:nvSpPr>
        <p:spPr/>
        <p:txBody>
          <a:bodyPr/>
          <a:lstStyle/>
          <a:p>
            <a:fld id="{4FE82CAD-E29D-48B2-84D3-3D67D2931523}" type="datetimeFigureOut">
              <a:rPr lang="en-IN" smtClean="0"/>
              <a:t>05-01-2026</a:t>
            </a:fld>
            <a:endParaRPr lang="en-IN"/>
          </a:p>
        </p:txBody>
      </p:sp>
      <p:sp>
        <p:nvSpPr>
          <p:cNvPr id="5" name="Footer Placeholder 4">
            <a:extLst>
              <a:ext uri="{FF2B5EF4-FFF2-40B4-BE49-F238E27FC236}">
                <a16:creationId xmlns:a16="http://schemas.microsoft.com/office/drawing/2014/main" id="{F4DE12F8-280E-6F38-4806-46E2FF0CF5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4FDA06-FC69-FAD5-303B-4E3FA318F047}"/>
              </a:ext>
            </a:extLst>
          </p:cNvPr>
          <p:cNvSpPr>
            <a:spLocks noGrp="1"/>
          </p:cNvSpPr>
          <p:nvPr>
            <p:ph type="sldNum" sz="quarter" idx="12"/>
          </p:nvPr>
        </p:nvSpPr>
        <p:spPr/>
        <p:txBody>
          <a:bodyPr/>
          <a:lstStyle/>
          <a:p>
            <a:fld id="{E5637FB0-FF7F-4211-A966-AA3CE95C9BC2}" type="slidenum">
              <a:rPr lang="en-IN" smtClean="0"/>
              <a:t>‹#›</a:t>
            </a:fld>
            <a:endParaRPr lang="en-IN"/>
          </a:p>
        </p:txBody>
      </p:sp>
    </p:spTree>
    <p:extLst>
      <p:ext uri="{BB962C8B-B14F-4D97-AF65-F5344CB8AC3E}">
        <p14:creationId xmlns:p14="http://schemas.microsoft.com/office/powerpoint/2010/main" val="2482568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329BB1-02A6-D75F-FC94-F9D32D124C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304103-904F-CEAA-95DC-3FF8654A70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FFFCF9-2C56-69BC-12D8-693A5490BA93}"/>
              </a:ext>
            </a:extLst>
          </p:cNvPr>
          <p:cNvSpPr>
            <a:spLocks noGrp="1"/>
          </p:cNvSpPr>
          <p:nvPr>
            <p:ph type="dt" sz="half" idx="10"/>
          </p:nvPr>
        </p:nvSpPr>
        <p:spPr/>
        <p:txBody>
          <a:bodyPr/>
          <a:lstStyle/>
          <a:p>
            <a:fld id="{4FE82CAD-E29D-48B2-84D3-3D67D2931523}" type="datetimeFigureOut">
              <a:rPr lang="en-IN" smtClean="0"/>
              <a:t>05-01-2026</a:t>
            </a:fld>
            <a:endParaRPr lang="en-IN"/>
          </a:p>
        </p:txBody>
      </p:sp>
      <p:sp>
        <p:nvSpPr>
          <p:cNvPr id="5" name="Footer Placeholder 4">
            <a:extLst>
              <a:ext uri="{FF2B5EF4-FFF2-40B4-BE49-F238E27FC236}">
                <a16:creationId xmlns:a16="http://schemas.microsoft.com/office/drawing/2014/main" id="{2F00CFAB-BA03-8BD6-8781-4A9EAA6B51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92155A-0071-D0CC-0F0F-CE439AA9C280}"/>
              </a:ext>
            </a:extLst>
          </p:cNvPr>
          <p:cNvSpPr>
            <a:spLocks noGrp="1"/>
          </p:cNvSpPr>
          <p:nvPr>
            <p:ph type="sldNum" sz="quarter" idx="12"/>
          </p:nvPr>
        </p:nvSpPr>
        <p:spPr/>
        <p:txBody>
          <a:bodyPr/>
          <a:lstStyle/>
          <a:p>
            <a:fld id="{E5637FB0-FF7F-4211-A966-AA3CE95C9BC2}" type="slidenum">
              <a:rPr lang="en-IN" smtClean="0"/>
              <a:t>‹#›</a:t>
            </a:fld>
            <a:endParaRPr lang="en-IN"/>
          </a:p>
        </p:txBody>
      </p:sp>
    </p:spTree>
    <p:extLst>
      <p:ext uri="{BB962C8B-B14F-4D97-AF65-F5344CB8AC3E}">
        <p14:creationId xmlns:p14="http://schemas.microsoft.com/office/powerpoint/2010/main" val="4261228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76D73E-65BC-4964-910B-FE7DD6CFF4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1291FB-82F0-7EDE-6116-8CF6DA9C20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6CFCE3-DD22-EC78-5B1E-D3030F63D1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E82CAD-E29D-48B2-84D3-3D67D2931523}" type="datetimeFigureOut">
              <a:rPr lang="en-IN" smtClean="0"/>
              <a:t>05-01-2026</a:t>
            </a:fld>
            <a:endParaRPr lang="en-IN"/>
          </a:p>
        </p:txBody>
      </p:sp>
      <p:sp>
        <p:nvSpPr>
          <p:cNvPr id="5" name="Footer Placeholder 4">
            <a:extLst>
              <a:ext uri="{FF2B5EF4-FFF2-40B4-BE49-F238E27FC236}">
                <a16:creationId xmlns:a16="http://schemas.microsoft.com/office/drawing/2014/main" id="{71C0158B-86F8-2FCE-C694-2BECEE8629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760EE33-0C30-B1E4-A089-62A94156C2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637FB0-FF7F-4211-A966-AA3CE95C9BC2}" type="slidenum">
              <a:rPr lang="en-IN" smtClean="0"/>
              <a:t>‹#›</a:t>
            </a:fld>
            <a:endParaRPr lang="en-IN"/>
          </a:p>
        </p:txBody>
      </p:sp>
    </p:spTree>
    <p:extLst>
      <p:ext uri="{BB962C8B-B14F-4D97-AF65-F5344CB8AC3E}">
        <p14:creationId xmlns:p14="http://schemas.microsoft.com/office/powerpoint/2010/main" val="641707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14BEF-693F-E336-A820-DD00576F5DC4}"/>
              </a:ext>
            </a:extLst>
          </p:cNvPr>
          <p:cNvSpPr>
            <a:spLocks noGrp="1"/>
          </p:cNvSpPr>
          <p:nvPr>
            <p:ph type="ctrTitle"/>
          </p:nvPr>
        </p:nvSpPr>
        <p:spPr/>
        <p:txBody>
          <a:bodyPr/>
          <a:lstStyle/>
          <a:p>
            <a:r>
              <a:rPr lang="en-IN" dirty="0"/>
              <a:t>Negotiation and Persuasion</a:t>
            </a:r>
          </a:p>
        </p:txBody>
      </p:sp>
      <p:sp>
        <p:nvSpPr>
          <p:cNvPr id="3" name="Subtitle 2">
            <a:extLst>
              <a:ext uri="{FF2B5EF4-FFF2-40B4-BE49-F238E27FC236}">
                <a16:creationId xmlns:a16="http://schemas.microsoft.com/office/drawing/2014/main" id="{1BC26CF1-734C-4C4A-5124-C16D9DA9B22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597482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28FD4-9D3D-C5B8-C18A-1CB1D9D06ACA}"/>
              </a:ext>
            </a:extLst>
          </p:cNvPr>
          <p:cNvSpPr txBox="1"/>
          <p:nvPr/>
        </p:nvSpPr>
        <p:spPr>
          <a:xfrm>
            <a:off x="2037347" y="1684421"/>
            <a:ext cx="7652084" cy="1754326"/>
          </a:xfrm>
          <a:prstGeom prst="rect">
            <a:avLst/>
          </a:prstGeom>
          <a:noFill/>
        </p:spPr>
        <p:txBody>
          <a:bodyPr wrap="square" rtlCol="0">
            <a:spAutoFit/>
          </a:bodyPr>
          <a:lstStyle/>
          <a:p>
            <a:pPr marL="285750" indent="-285750" algn="just">
              <a:buFont typeface="Arial" panose="020B0604020202020204" pitchFamily="34" charset="0"/>
              <a:buChar char="•"/>
            </a:pPr>
            <a:r>
              <a:rPr lang="en-US" dirty="0"/>
              <a:t>Negotiations are crucial elements of interpersonal communication both in our everyday and in our professional lives. </a:t>
            </a:r>
          </a:p>
          <a:p>
            <a:pPr marL="285750" indent="-285750" algn="just">
              <a:buFont typeface="Arial" panose="020B0604020202020204" pitchFamily="34" charset="0"/>
              <a:buChar char="•"/>
            </a:pPr>
            <a:r>
              <a:rPr lang="en-US" dirty="0"/>
              <a:t>At the same time, negotiating in a persuading manner is one of the greatest challenges of interpersonal communication.</a:t>
            </a:r>
          </a:p>
          <a:p>
            <a:pPr marL="285750" indent="-285750" algn="just">
              <a:buFont typeface="Arial" panose="020B0604020202020204" pitchFamily="34" charset="0"/>
              <a:buChar char="•"/>
            </a:pPr>
            <a:r>
              <a:rPr lang="en-US" dirty="0"/>
              <a:t>The purpose of a negotiation is always to reach a personal or a shared objective, to agree to some form of cooperation, or to resolve a conflict.</a:t>
            </a:r>
            <a:endParaRPr lang="en-IN" dirty="0"/>
          </a:p>
        </p:txBody>
      </p:sp>
      <p:sp>
        <p:nvSpPr>
          <p:cNvPr id="3" name="TextBox 2">
            <a:extLst>
              <a:ext uri="{FF2B5EF4-FFF2-40B4-BE49-F238E27FC236}">
                <a16:creationId xmlns:a16="http://schemas.microsoft.com/office/drawing/2014/main" id="{CF4BDE53-6065-23DF-F394-C7E5EE208B32}"/>
              </a:ext>
            </a:extLst>
          </p:cNvPr>
          <p:cNvSpPr txBox="1"/>
          <p:nvPr/>
        </p:nvSpPr>
        <p:spPr>
          <a:xfrm>
            <a:off x="3994484" y="4042610"/>
            <a:ext cx="4588042" cy="369332"/>
          </a:xfrm>
          <a:prstGeom prst="rect">
            <a:avLst/>
          </a:prstGeom>
          <a:noFill/>
        </p:spPr>
        <p:txBody>
          <a:bodyPr wrap="square" rtlCol="0">
            <a:spAutoFit/>
          </a:bodyPr>
          <a:lstStyle/>
          <a:p>
            <a:r>
              <a:rPr lang="en-US"/>
              <a:t>What is Negotiation </a:t>
            </a:r>
            <a:endParaRPr lang="en-IN" dirty="0"/>
          </a:p>
        </p:txBody>
      </p:sp>
      <p:pic>
        <p:nvPicPr>
          <p:cNvPr id="4" name="Picture 3">
            <a:extLst>
              <a:ext uri="{FF2B5EF4-FFF2-40B4-BE49-F238E27FC236}">
                <a16:creationId xmlns:a16="http://schemas.microsoft.com/office/drawing/2014/main" id="{E0834DFC-B914-84B2-81A2-E2CD81254F59}"/>
              </a:ext>
            </a:extLst>
          </p:cNvPr>
          <p:cNvPicPr>
            <a:picLocks noChangeAspect="1"/>
          </p:cNvPicPr>
          <p:nvPr/>
        </p:nvPicPr>
        <p:blipFill>
          <a:blip r:embed="rId2"/>
          <a:stretch>
            <a:fillRect/>
          </a:stretch>
        </p:blipFill>
        <p:spPr>
          <a:xfrm>
            <a:off x="1619250" y="3222475"/>
            <a:ext cx="2857500" cy="2009602"/>
          </a:xfrm>
          <a:prstGeom prst="rect">
            <a:avLst/>
          </a:prstGeom>
        </p:spPr>
      </p:pic>
      <p:pic>
        <p:nvPicPr>
          <p:cNvPr id="5" name="Picture 4">
            <a:extLst>
              <a:ext uri="{FF2B5EF4-FFF2-40B4-BE49-F238E27FC236}">
                <a16:creationId xmlns:a16="http://schemas.microsoft.com/office/drawing/2014/main" id="{A551D3EE-ACC3-8C78-8938-516555EF4A7A}"/>
              </a:ext>
            </a:extLst>
          </p:cNvPr>
          <p:cNvPicPr>
            <a:picLocks noChangeAspect="1"/>
          </p:cNvPicPr>
          <p:nvPr/>
        </p:nvPicPr>
        <p:blipFill>
          <a:blip r:embed="rId3"/>
          <a:stretch>
            <a:fillRect/>
          </a:stretch>
        </p:blipFill>
        <p:spPr>
          <a:xfrm>
            <a:off x="6835942" y="2474676"/>
            <a:ext cx="2609850" cy="1752600"/>
          </a:xfrm>
          <a:prstGeom prst="rect">
            <a:avLst/>
          </a:prstGeom>
        </p:spPr>
      </p:pic>
    </p:spTree>
    <p:extLst>
      <p:ext uri="{BB962C8B-B14F-4D97-AF65-F5344CB8AC3E}">
        <p14:creationId xmlns:p14="http://schemas.microsoft.com/office/powerpoint/2010/main" val="2806457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DF05CA9-531B-0013-1AA3-EF3E5521653B}"/>
              </a:ext>
            </a:extLst>
          </p:cNvPr>
          <p:cNvSpPr>
            <a:spLocks noGrp="1"/>
          </p:cNvSpPr>
          <p:nvPr/>
        </p:nvSpPr>
        <p:spPr>
          <a:xfrm>
            <a:off x="2883824" y="1433945"/>
            <a:ext cx="6424352" cy="3990109"/>
          </a:xfrm>
          <a:prstGeom prst="rect">
            <a:avLst/>
          </a:prstGeom>
        </p:spPr>
        <p:txBody>
          <a:bodyPr vert="horz" lIns="91440" tIns="45720" rIns="91440" bIns="45720" rtlCol="0" anchor="ctr">
            <a:normAutofit fontScale="92500" lnSpcReduction="20000"/>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a:buFont typeface="Arial" panose="020B0604020202020204" pitchFamily="34" charset="0"/>
              <a:buChar char="•"/>
            </a:pPr>
            <a:r>
              <a:rPr lang="en-US" dirty="0"/>
              <a:t>In order to achieve a desirable outcome, it may be useful to follow a structured approach to negotiation. For example, in a work situation a meeting may need to be arranged in which all parties involved can come together.</a:t>
            </a:r>
          </a:p>
          <a:p>
            <a:pPr>
              <a:buFont typeface="Arial" panose="020B0604020202020204" pitchFamily="34" charset="0"/>
              <a:buChar char="•"/>
            </a:pPr>
            <a:r>
              <a:rPr lang="en-US" dirty="0"/>
              <a:t>The process of negotiation includes:</a:t>
            </a:r>
          </a:p>
          <a:p>
            <a:pPr>
              <a:buFont typeface="Arial" panose="020B0604020202020204" pitchFamily="34" charset="0"/>
              <a:buChar char="•"/>
            </a:pPr>
            <a:r>
              <a:rPr lang="en-US" dirty="0"/>
              <a:t>Preparation</a:t>
            </a:r>
          </a:p>
          <a:p>
            <a:pPr>
              <a:buFont typeface="Arial" panose="020B0604020202020204" pitchFamily="34" charset="0"/>
              <a:buChar char="•"/>
            </a:pPr>
            <a:r>
              <a:rPr lang="en-US" dirty="0"/>
              <a:t>Discussion</a:t>
            </a:r>
          </a:p>
          <a:p>
            <a:pPr>
              <a:buFont typeface="Arial" panose="020B0604020202020204" pitchFamily="34" charset="0"/>
              <a:buChar char="•"/>
            </a:pPr>
            <a:r>
              <a:rPr lang="en-US" dirty="0"/>
              <a:t>Clarification of goals</a:t>
            </a:r>
          </a:p>
          <a:p>
            <a:pPr>
              <a:buFont typeface="Arial" panose="020B0604020202020204" pitchFamily="34" charset="0"/>
              <a:buChar char="•"/>
            </a:pPr>
            <a:r>
              <a:rPr lang="en-US" dirty="0"/>
              <a:t>Negotiate towards a Win-Win outcome</a:t>
            </a:r>
          </a:p>
          <a:p>
            <a:pPr>
              <a:buFont typeface="Arial" panose="020B0604020202020204" pitchFamily="34" charset="0"/>
              <a:buChar char="•"/>
            </a:pPr>
            <a:r>
              <a:rPr lang="en-US" dirty="0"/>
              <a:t>Agreement</a:t>
            </a:r>
          </a:p>
          <a:p>
            <a:pPr>
              <a:buFont typeface="Arial" panose="020B0604020202020204" pitchFamily="34" charset="0"/>
              <a:buChar char="•"/>
            </a:pPr>
            <a:r>
              <a:rPr lang="en-US" dirty="0"/>
              <a:t>Implementation of a course of action</a:t>
            </a:r>
            <a:endParaRPr lang="en-IN" dirty="0"/>
          </a:p>
        </p:txBody>
      </p:sp>
      <p:pic>
        <p:nvPicPr>
          <p:cNvPr id="3" name="Picture 2">
            <a:extLst>
              <a:ext uri="{FF2B5EF4-FFF2-40B4-BE49-F238E27FC236}">
                <a16:creationId xmlns:a16="http://schemas.microsoft.com/office/drawing/2014/main" id="{DF58779D-2EF7-D38C-3C20-034947E871CB}"/>
              </a:ext>
            </a:extLst>
          </p:cNvPr>
          <p:cNvPicPr>
            <a:picLocks noChangeAspect="1"/>
          </p:cNvPicPr>
          <p:nvPr/>
        </p:nvPicPr>
        <p:blipFill>
          <a:blip r:embed="rId2"/>
          <a:stretch>
            <a:fillRect/>
          </a:stretch>
        </p:blipFill>
        <p:spPr>
          <a:xfrm>
            <a:off x="5681162" y="2257424"/>
            <a:ext cx="1952625" cy="2343150"/>
          </a:xfrm>
          <a:prstGeom prst="rect">
            <a:avLst/>
          </a:prstGeom>
        </p:spPr>
      </p:pic>
      <p:sp>
        <p:nvSpPr>
          <p:cNvPr id="5" name="TextBox 4">
            <a:extLst>
              <a:ext uri="{FF2B5EF4-FFF2-40B4-BE49-F238E27FC236}">
                <a16:creationId xmlns:a16="http://schemas.microsoft.com/office/drawing/2014/main" id="{A7BA09FB-53AC-8E20-6C97-71E3A9013376}"/>
              </a:ext>
            </a:extLst>
          </p:cNvPr>
          <p:cNvSpPr txBox="1"/>
          <p:nvPr/>
        </p:nvSpPr>
        <p:spPr>
          <a:xfrm>
            <a:off x="4732422" y="3428999"/>
            <a:ext cx="6096000" cy="369332"/>
          </a:xfrm>
          <a:prstGeom prst="rect">
            <a:avLst/>
          </a:prstGeom>
          <a:noFill/>
        </p:spPr>
        <p:txBody>
          <a:bodyPr wrap="square">
            <a:spAutoFit/>
          </a:bodyPr>
          <a:lstStyle/>
          <a:p>
            <a:r>
              <a:rPr lang="en-IN" dirty="0"/>
              <a:t>Stages of Negotiation</a:t>
            </a:r>
          </a:p>
        </p:txBody>
      </p:sp>
    </p:spTree>
    <p:extLst>
      <p:ext uri="{BB962C8B-B14F-4D97-AF65-F5344CB8AC3E}">
        <p14:creationId xmlns:p14="http://schemas.microsoft.com/office/powerpoint/2010/main" val="270480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4B2E442-085A-7CD4-D4B3-35B02F0A53C2}"/>
              </a:ext>
            </a:extLst>
          </p:cNvPr>
          <p:cNvSpPr txBox="1"/>
          <p:nvPr/>
        </p:nvSpPr>
        <p:spPr>
          <a:xfrm>
            <a:off x="3048000" y="2971345"/>
            <a:ext cx="6096000" cy="923330"/>
          </a:xfrm>
          <a:prstGeom prst="rect">
            <a:avLst/>
          </a:prstGeom>
          <a:noFill/>
        </p:spPr>
        <p:txBody>
          <a:bodyPr wrap="square">
            <a:spAutoFit/>
          </a:bodyPr>
          <a:lstStyle/>
          <a:p>
            <a:pPr algn="just"/>
            <a:r>
              <a:rPr lang="en-US" dirty="0"/>
              <a:t>During this stage, individuals or members of each side put forward the case as they see it, i.e. their understanding of the situation.</a:t>
            </a:r>
            <a:endParaRPr lang="en-IN" dirty="0"/>
          </a:p>
        </p:txBody>
      </p:sp>
      <p:sp>
        <p:nvSpPr>
          <p:cNvPr id="9" name="TextBox 8">
            <a:extLst>
              <a:ext uri="{FF2B5EF4-FFF2-40B4-BE49-F238E27FC236}">
                <a16:creationId xmlns:a16="http://schemas.microsoft.com/office/drawing/2014/main" id="{3FD63456-B6DF-F695-3BFB-FE51EEEA5578}"/>
              </a:ext>
            </a:extLst>
          </p:cNvPr>
          <p:cNvSpPr txBox="1"/>
          <p:nvPr/>
        </p:nvSpPr>
        <p:spPr>
          <a:xfrm>
            <a:off x="3336758" y="2630087"/>
            <a:ext cx="6096000" cy="369332"/>
          </a:xfrm>
          <a:prstGeom prst="rect">
            <a:avLst/>
          </a:prstGeom>
          <a:noFill/>
        </p:spPr>
        <p:txBody>
          <a:bodyPr wrap="square">
            <a:spAutoFit/>
          </a:bodyPr>
          <a:lstStyle/>
          <a:p>
            <a:r>
              <a:rPr lang="en-IN" dirty="0"/>
              <a:t>Discussion</a:t>
            </a:r>
          </a:p>
        </p:txBody>
      </p:sp>
      <p:pic>
        <p:nvPicPr>
          <p:cNvPr id="10" name="Picture 9">
            <a:extLst>
              <a:ext uri="{FF2B5EF4-FFF2-40B4-BE49-F238E27FC236}">
                <a16:creationId xmlns:a16="http://schemas.microsoft.com/office/drawing/2014/main" id="{1B68431D-E66E-B1FF-B62B-C6B0679322C1}"/>
              </a:ext>
            </a:extLst>
          </p:cNvPr>
          <p:cNvPicPr>
            <a:picLocks noChangeAspect="1"/>
          </p:cNvPicPr>
          <p:nvPr/>
        </p:nvPicPr>
        <p:blipFill>
          <a:blip r:embed="rId2"/>
          <a:stretch>
            <a:fillRect/>
          </a:stretch>
        </p:blipFill>
        <p:spPr>
          <a:xfrm>
            <a:off x="6737584" y="3858582"/>
            <a:ext cx="3272790" cy="2181225"/>
          </a:xfrm>
          <a:prstGeom prst="rect">
            <a:avLst/>
          </a:prstGeom>
        </p:spPr>
      </p:pic>
      <p:pic>
        <p:nvPicPr>
          <p:cNvPr id="13" name="Picture 12">
            <a:extLst>
              <a:ext uri="{FF2B5EF4-FFF2-40B4-BE49-F238E27FC236}">
                <a16:creationId xmlns:a16="http://schemas.microsoft.com/office/drawing/2014/main" id="{615F370B-8C4E-F69B-F457-91AE9AFE69ED}"/>
              </a:ext>
            </a:extLst>
          </p:cNvPr>
          <p:cNvPicPr>
            <a:picLocks noChangeAspect="1"/>
          </p:cNvPicPr>
          <p:nvPr/>
        </p:nvPicPr>
        <p:blipFill>
          <a:blip r:embed="rId3"/>
          <a:stretch>
            <a:fillRect/>
          </a:stretch>
        </p:blipFill>
        <p:spPr>
          <a:xfrm>
            <a:off x="4808194" y="4235933"/>
            <a:ext cx="2875961" cy="2373414"/>
          </a:xfrm>
          <a:prstGeom prst="rect">
            <a:avLst/>
          </a:prstGeom>
        </p:spPr>
      </p:pic>
    </p:spTree>
    <p:extLst>
      <p:ext uri="{BB962C8B-B14F-4D97-AF65-F5344CB8AC3E}">
        <p14:creationId xmlns:p14="http://schemas.microsoft.com/office/powerpoint/2010/main" val="633380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23B9FD5-76BD-A4EC-B9BD-1B10BA83CAA4}"/>
              </a:ext>
            </a:extLst>
          </p:cNvPr>
          <p:cNvPicPr>
            <a:picLocks noChangeAspect="1"/>
          </p:cNvPicPr>
          <p:nvPr/>
        </p:nvPicPr>
        <p:blipFill>
          <a:blip r:embed="rId2"/>
          <a:stretch>
            <a:fillRect/>
          </a:stretch>
        </p:blipFill>
        <p:spPr>
          <a:xfrm>
            <a:off x="4634822" y="886460"/>
            <a:ext cx="3628209" cy="2728188"/>
          </a:xfrm>
          <a:prstGeom prst="rect">
            <a:avLst/>
          </a:prstGeom>
        </p:spPr>
      </p:pic>
      <p:pic>
        <p:nvPicPr>
          <p:cNvPr id="3" name="Picture 2">
            <a:extLst>
              <a:ext uri="{FF2B5EF4-FFF2-40B4-BE49-F238E27FC236}">
                <a16:creationId xmlns:a16="http://schemas.microsoft.com/office/drawing/2014/main" id="{86283CBE-9901-786E-53D3-F819F4A1B99F}"/>
              </a:ext>
            </a:extLst>
          </p:cNvPr>
          <p:cNvPicPr>
            <a:picLocks noChangeAspect="1"/>
          </p:cNvPicPr>
          <p:nvPr/>
        </p:nvPicPr>
        <p:blipFill>
          <a:blip r:embed="rId3"/>
          <a:stretch>
            <a:fillRect/>
          </a:stretch>
        </p:blipFill>
        <p:spPr>
          <a:xfrm>
            <a:off x="4634821" y="1854480"/>
            <a:ext cx="3628209" cy="4117060"/>
          </a:xfrm>
          <a:prstGeom prst="rect">
            <a:avLst/>
          </a:prstGeom>
        </p:spPr>
      </p:pic>
      <p:pic>
        <p:nvPicPr>
          <p:cNvPr id="4" name="Picture 3">
            <a:extLst>
              <a:ext uri="{FF2B5EF4-FFF2-40B4-BE49-F238E27FC236}">
                <a16:creationId xmlns:a16="http://schemas.microsoft.com/office/drawing/2014/main" id="{9784009E-491B-C89F-62CB-1E7D45185F78}"/>
              </a:ext>
            </a:extLst>
          </p:cNvPr>
          <p:cNvPicPr>
            <a:picLocks noChangeAspect="1"/>
          </p:cNvPicPr>
          <p:nvPr/>
        </p:nvPicPr>
        <p:blipFill>
          <a:blip r:embed="rId4"/>
          <a:stretch>
            <a:fillRect/>
          </a:stretch>
        </p:blipFill>
        <p:spPr>
          <a:xfrm rot="1648674">
            <a:off x="3265505" y="2777862"/>
            <a:ext cx="2738632" cy="2715007"/>
          </a:xfrm>
          <a:prstGeom prst="rect">
            <a:avLst/>
          </a:prstGeom>
        </p:spPr>
      </p:pic>
    </p:spTree>
    <p:extLst>
      <p:ext uri="{BB962C8B-B14F-4D97-AF65-F5344CB8AC3E}">
        <p14:creationId xmlns:p14="http://schemas.microsoft.com/office/powerpoint/2010/main" val="154068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6ACC1C-529C-6F74-E3D3-6C5CC2037E0F}"/>
              </a:ext>
            </a:extLst>
          </p:cNvPr>
          <p:cNvSpPr txBox="1"/>
          <p:nvPr/>
        </p:nvSpPr>
        <p:spPr>
          <a:xfrm>
            <a:off x="3048000" y="462966"/>
            <a:ext cx="6096000" cy="6217087"/>
          </a:xfrm>
          <a:prstGeom prst="rect">
            <a:avLst/>
          </a:prstGeom>
          <a:noFill/>
        </p:spPr>
        <p:txBody>
          <a:bodyPr wrap="square">
            <a:spAutoFit/>
          </a:bodyPr>
          <a:lstStyle/>
          <a:p>
            <a:pPr marL="342900" indent="-342900" algn="just">
              <a:buFont typeface="Arial" panose="020B0604020202020204" pitchFamily="34" charset="0"/>
              <a:buChar char="•"/>
            </a:pPr>
            <a:r>
              <a:rPr lang="en-IN" sz="2000" b="1" dirty="0"/>
              <a:t>Reciprocity:</a:t>
            </a:r>
            <a:r>
              <a:rPr lang="en-US" sz="1800" b="1" dirty="0">
                <a:solidFill>
                  <a:srgbClr val="00B050"/>
                </a:solidFill>
              </a:rPr>
              <a:t>Reciprocity is a process of exchanging things with other people to gain a mutual benefit</a:t>
            </a:r>
            <a:endParaRPr lang="en-IN" sz="1800" b="1" dirty="0">
              <a:solidFill>
                <a:srgbClr val="00B050"/>
              </a:solidFill>
            </a:endParaRPr>
          </a:p>
          <a:p>
            <a:pPr marL="285750" indent="-285750" algn="just">
              <a:buFont typeface="Arial" panose="020B0604020202020204" pitchFamily="34" charset="0"/>
              <a:buChar char="•"/>
            </a:pPr>
            <a:r>
              <a:rPr lang="en-IN" sz="1800" b="1" dirty="0"/>
              <a:t>Scarcity: </a:t>
            </a:r>
            <a:r>
              <a:rPr lang="en-IN" sz="1800" b="1" dirty="0">
                <a:solidFill>
                  <a:srgbClr val="00B050"/>
                </a:solidFill>
              </a:rPr>
              <a:t>One </a:t>
            </a:r>
            <a:r>
              <a:rPr lang="en-US" sz="1800" b="1" dirty="0">
                <a:solidFill>
                  <a:srgbClr val="00B050"/>
                </a:solidFill>
              </a:rPr>
              <a:t>might be persuaded to change one’s behavior if he/she is convinced that he/she will lose access to something, or that there isn't enough of it to go around.</a:t>
            </a:r>
            <a:endParaRPr lang="en-IN" sz="1800" b="1" dirty="0">
              <a:solidFill>
                <a:srgbClr val="00B050"/>
              </a:solidFill>
            </a:endParaRPr>
          </a:p>
          <a:p>
            <a:pPr marL="285750" indent="-285750" algn="just">
              <a:buFont typeface="Arial" panose="020B0604020202020204" pitchFamily="34" charset="0"/>
              <a:buChar char="•"/>
            </a:pPr>
            <a:r>
              <a:rPr lang="en-IN" sz="1800" b="1" dirty="0"/>
              <a:t>Authority:</a:t>
            </a:r>
            <a:r>
              <a:rPr lang="en-US" sz="1800" b="1" dirty="0">
                <a:solidFill>
                  <a:srgbClr val="00B050"/>
                </a:solidFill>
              </a:rPr>
              <a:t>If one believes that a person or other entity has expert knowledge, one may be more likely to be persuaded by their message.</a:t>
            </a:r>
            <a:endParaRPr lang="en-IN" sz="1800" b="1" dirty="0">
              <a:solidFill>
                <a:srgbClr val="00B050"/>
              </a:solidFill>
            </a:endParaRPr>
          </a:p>
          <a:p>
            <a:pPr marL="285750" indent="-285750" algn="just">
              <a:buFont typeface="Arial" panose="020B0604020202020204" pitchFamily="34" charset="0"/>
              <a:buChar char="•"/>
            </a:pPr>
            <a:r>
              <a:rPr lang="en-IN" sz="1800" b="1" dirty="0"/>
              <a:t>Consistency or Commitment:</a:t>
            </a:r>
            <a:r>
              <a:rPr lang="en-US" sz="1800" b="1" dirty="0">
                <a:solidFill>
                  <a:srgbClr val="00B050"/>
                </a:solidFill>
              </a:rPr>
              <a:t>It describes the way in which people want their beliefs and </a:t>
            </a:r>
            <a:r>
              <a:rPr lang="en-US" sz="1800" b="1" dirty="0" err="1">
                <a:solidFill>
                  <a:srgbClr val="00B050"/>
                </a:solidFill>
              </a:rPr>
              <a:t>behaviours</a:t>
            </a:r>
            <a:r>
              <a:rPr lang="en-US" sz="1800" b="1" dirty="0">
                <a:solidFill>
                  <a:srgbClr val="00B050"/>
                </a:solidFill>
              </a:rPr>
              <a:t> to be consistent with their values and self-image. </a:t>
            </a:r>
            <a:endParaRPr lang="en-IN" sz="1800" b="1" dirty="0">
              <a:solidFill>
                <a:srgbClr val="00B050"/>
              </a:solidFill>
            </a:endParaRPr>
          </a:p>
          <a:p>
            <a:pPr marL="285750" indent="-285750" algn="just">
              <a:buFont typeface="Arial" panose="020B0604020202020204" pitchFamily="34" charset="0"/>
              <a:buChar char="•"/>
            </a:pPr>
            <a:r>
              <a:rPr lang="en-IN" sz="1800" b="1" dirty="0"/>
              <a:t>Social Proof: </a:t>
            </a:r>
            <a:r>
              <a:rPr lang="en-IN" sz="1800" b="1" dirty="0">
                <a:solidFill>
                  <a:srgbClr val="00B050"/>
                </a:solidFill>
              </a:rPr>
              <a:t>It</a:t>
            </a:r>
            <a:r>
              <a:rPr lang="en-US" sz="1800" b="1" dirty="0">
                <a:solidFill>
                  <a:srgbClr val="00B050"/>
                </a:solidFill>
              </a:rPr>
              <a:t> is a psychological effect that leads us to copy other people’s </a:t>
            </a:r>
            <a:r>
              <a:rPr lang="en-US" sz="1800" b="1" dirty="0" err="1">
                <a:solidFill>
                  <a:srgbClr val="00B050"/>
                </a:solidFill>
              </a:rPr>
              <a:t>behaviour</a:t>
            </a:r>
            <a:r>
              <a:rPr lang="en-US" sz="1800" b="1" dirty="0">
                <a:solidFill>
                  <a:srgbClr val="00B050"/>
                </a:solidFill>
              </a:rPr>
              <a:t>. It has become an important part of how businesses communicate because it helps people choose who and what to trust online.</a:t>
            </a:r>
            <a:endParaRPr lang="en-IN" sz="1800" b="1" dirty="0">
              <a:solidFill>
                <a:srgbClr val="00B050"/>
              </a:solidFill>
            </a:endParaRPr>
          </a:p>
          <a:p>
            <a:pPr marL="285750" indent="-285750" algn="just">
              <a:buFont typeface="Arial" panose="020B0604020202020204" pitchFamily="34" charset="0"/>
              <a:buChar char="•"/>
            </a:pPr>
            <a:r>
              <a:rPr lang="en-IN" sz="1800" b="1" dirty="0"/>
              <a:t>Liking:</a:t>
            </a:r>
            <a:r>
              <a:rPr lang="en-US" sz="1800" b="1" dirty="0">
                <a:solidFill>
                  <a:srgbClr val="00B050"/>
                </a:solidFill>
              </a:rPr>
              <a:t>Persuasion by reciprocation is based on the law of reciprocity. It’s considered by many to be the most powerful law of human nature. Basically, it states that, "If you do something nice for me I’ll do something nice for you. I feel obligated to reciprocate.”</a:t>
            </a:r>
            <a:endParaRPr lang="en-IN" sz="1800" b="1" dirty="0">
              <a:solidFill>
                <a:srgbClr val="00B050"/>
              </a:solidFill>
            </a:endParaRPr>
          </a:p>
        </p:txBody>
      </p:sp>
      <p:sp>
        <p:nvSpPr>
          <p:cNvPr id="5" name="TextBox 4">
            <a:extLst>
              <a:ext uri="{FF2B5EF4-FFF2-40B4-BE49-F238E27FC236}">
                <a16:creationId xmlns:a16="http://schemas.microsoft.com/office/drawing/2014/main" id="{F2827976-7093-B5CE-AC51-C79558D3D9AB}"/>
              </a:ext>
            </a:extLst>
          </p:cNvPr>
          <p:cNvSpPr txBox="1"/>
          <p:nvPr/>
        </p:nvSpPr>
        <p:spPr>
          <a:xfrm>
            <a:off x="4363452" y="121708"/>
            <a:ext cx="6096000" cy="369332"/>
          </a:xfrm>
          <a:prstGeom prst="rect">
            <a:avLst/>
          </a:prstGeom>
          <a:noFill/>
        </p:spPr>
        <p:txBody>
          <a:bodyPr wrap="square">
            <a:spAutoFit/>
          </a:bodyPr>
          <a:lstStyle/>
          <a:p>
            <a:r>
              <a:rPr lang="en-IN" dirty="0"/>
              <a:t>6 Principles of Persuasion</a:t>
            </a:r>
          </a:p>
        </p:txBody>
      </p:sp>
    </p:spTree>
    <p:extLst>
      <p:ext uri="{BB962C8B-B14F-4D97-AF65-F5344CB8AC3E}">
        <p14:creationId xmlns:p14="http://schemas.microsoft.com/office/powerpoint/2010/main" val="2012329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7827EA-7405-24E4-6B7A-C76132E89DE2}"/>
              </a:ext>
            </a:extLst>
          </p:cNvPr>
          <p:cNvSpPr txBox="1"/>
          <p:nvPr/>
        </p:nvSpPr>
        <p:spPr>
          <a:xfrm>
            <a:off x="2030232" y="948950"/>
            <a:ext cx="6096000" cy="3139321"/>
          </a:xfrm>
          <a:prstGeom prst="rect">
            <a:avLst/>
          </a:prstGeom>
          <a:noFill/>
        </p:spPr>
        <p:txBody>
          <a:bodyPr wrap="square">
            <a:spAutoFit/>
          </a:bodyPr>
          <a:lstStyle/>
          <a:p>
            <a:pPr marL="285750" indent="-285750">
              <a:buFont typeface="Arial" panose="020B0604020202020204" pitchFamily="34" charset="0"/>
              <a:buChar char="•"/>
            </a:pPr>
            <a:r>
              <a:rPr lang="en-US" b="1" dirty="0">
                <a:solidFill>
                  <a:srgbClr val="C00000"/>
                </a:solidFill>
              </a:rPr>
              <a:t>Understand</a:t>
            </a:r>
            <a:r>
              <a:rPr lang="en-US" dirty="0"/>
              <a:t> </a:t>
            </a:r>
            <a:r>
              <a:rPr lang="en-US" b="1" dirty="0">
                <a:solidFill>
                  <a:srgbClr val="C00000"/>
                </a:solidFill>
              </a:rPr>
              <a:t>the other party’s needs and motivations</a:t>
            </a:r>
            <a:r>
              <a:rPr lang="en-US" dirty="0"/>
              <a:t>: Before entering a negotiation, it’s essential to understand what the other party hopes to achieve and their priorities. By doing so, you can tailor your approach and proposals to meet their needs better, making it more likely for them to agree to your terms.</a:t>
            </a:r>
          </a:p>
          <a:p>
            <a:pPr marL="285750" indent="-285750">
              <a:buFont typeface="Arial" panose="020B0604020202020204" pitchFamily="34" charset="0"/>
              <a:buChar char="•"/>
            </a:pPr>
            <a:r>
              <a:rPr lang="en-US" b="1" dirty="0">
                <a:solidFill>
                  <a:schemeClr val="accent3">
                    <a:lumMod val="75000"/>
                  </a:schemeClr>
                </a:solidFill>
              </a:rPr>
              <a:t>Focus on creating win-win outcomes</a:t>
            </a:r>
            <a:r>
              <a:rPr lang="en-US" dirty="0"/>
              <a:t>: Effective negotiation isn’t about dominating or overpowering the other party but finding a mutually beneficial solution. Look for ways to create value for both parties and aim for a compromise that satisfies everyone’s needs.</a:t>
            </a:r>
            <a:endParaRPr lang="en-IN" dirty="0"/>
          </a:p>
        </p:txBody>
      </p:sp>
      <p:pic>
        <p:nvPicPr>
          <p:cNvPr id="8" name="Picture 7">
            <a:extLst>
              <a:ext uri="{FF2B5EF4-FFF2-40B4-BE49-F238E27FC236}">
                <a16:creationId xmlns:a16="http://schemas.microsoft.com/office/drawing/2014/main" id="{84B1990C-082E-9B11-CF44-2677C1500673}"/>
              </a:ext>
            </a:extLst>
          </p:cNvPr>
          <p:cNvPicPr>
            <a:picLocks noChangeAspect="1"/>
          </p:cNvPicPr>
          <p:nvPr/>
        </p:nvPicPr>
        <p:blipFill>
          <a:blip r:embed="rId2"/>
          <a:stretch>
            <a:fillRect/>
          </a:stretch>
        </p:blipFill>
        <p:spPr>
          <a:xfrm>
            <a:off x="6970077" y="4088271"/>
            <a:ext cx="4670063" cy="1970116"/>
          </a:xfrm>
          <a:prstGeom prst="rect">
            <a:avLst/>
          </a:prstGeom>
        </p:spPr>
      </p:pic>
      <p:sp>
        <p:nvSpPr>
          <p:cNvPr id="10" name="TextBox 9">
            <a:extLst>
              <a:ext uri="{FF2B5EF4-FFF2-40B4-BE49-F238E27FC236}">
                <a16:creationId xmlns:a16="http://schemas.microsoft.com/office/drawing/2014/main" id="{211BD5D9-8973-0793-DE5F-66D9DB0DFDB0}"/>
              </a:ext>
            </a:extLst>
          </p:cNvPr>
          <p:cNvSpPr txBox="1"/>
          <p:nvPr/>
        </p:nvSpPr>
        <p:spPr>
          <a:xfrm>
            <a:off x="1171074" y="366315"/>
            <a:ext cx="6096000" cy="369332"/>
          </a:xfrm>
          <a:prstGeom prst="rect">
            <a:avLst/>
          </a:prstGeom>
          <a:noFill/>
        </p:spPr>
        <p:txBody>
          <a:bodyPr wrap="square">
            <a:spAutoFit/>
          </a:bodyPr>
          <a:lstStyle/>
          <a:p>
            <a:r>
              <a:rPr lang="en-US" dirty="0"/>
              <a:t>How to become better at negotiation?</a:t>
            </a:r>
            <a:endParaRPr lang="en-IN" dirty="0"/>
          </a:p>
        </p:txBody>
      </p:sp>
    </p:spTree>
    <p:extLst>
      <p:ext uri="{BB962C8B-B14F-4D97-AF65-F5344CB8AC3E}">
        <p14:creationId xmlns:p14="http://schemas.microsoft.com/office/powerpoint/2010/main" val="3843779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A08EBC-4DB7-9451-2F9D-C0EC5F0C636C}"/>
              </a:ext>
            </a:extLst>
          </p:cNvPr>
          <p:cNvSpPr txBox="1"/>
          <p:nvPr/>
        </p:nvSpPr>
        <p:spPr>
          <a:xfrm>
            <a:off x="3048000" y="1170853"/>
            <a:ext cx="6096000" cy="4524315"/>
          </a:xfrm>
          <a:prstGeom prst="rect">
            <a:avLst/>
          </a:prstGeom>
          <a:noFill/>
        </p:spPr>
        <p:txBody>
          <a:bodyPr wrap="square">
            <a:spAutoFit/>
          </a:bodyPr>
          <a:lstStyle/>
          <a:p>
            <a:pPr marL="342900" indent="-342900" algn="just">
              <a:buFont typeface="Arial" panose="020B0604020202020204" pitchFamily="34" charset="0"/>
              <a:buChar char="•"/>
            </a:pPr>
            <a:r>
              <a:rPr lang="en-US" b="1" dirty="0">
                <a:solidFill>
                  <a:srgbClr val="00B0F0"/>
                </a:solidFill>
              </a:rPr>
              <a:t>Develop strong communication skills</a:t>
            </a:r>
            <a:r>
              <a:rPr lang="en-US" dirty="0"/>
              <a:t>: Communication is critical in any negotiation, so it’s important to practice active listening, clarify your understanding, and express your ideas clearly and persuasively. Avoid making assumptions and seek to understand the other party’s perspective before making your points.</a:t>
            </a:r>
          </a:p>
          <a:p>
            <a:pPr marL="342900" indent="-342900" algn="just">
              <a:buFont typeface="Arial" panose="020B0604020202020204" pitchFamily="34" charset="0"/>
              <a:buChar char="•"/>
            </a:pPr>
            <a:r>
              <a:rPr lang="en-US" dirty="0">
                <a:solidFill>
                  <a:srgbClr val="00B0F0"/>
                </a:solidFill>
              </a:rPr>
              <a:t>Prepare thoroughly: </a:t>
            </a:r>
            <a:r>
              <a:rPr lang="en-US" dirty="0"/>
              <a:t>Negotiation requires preparation and planning, so gather all the relevant information and data before entering a discussion. Anticipate potential objections or challenges and develop counterarguments and alternatives in advance.</a:t>
            </a:r>
          </a:p>
          <a:p>
            <a:pPr marL="342900" indent="-342900" algn="just">
              <a:buFont typeface="Arial" panose="020B0604020202020204" pitchFamily="34" charset="0"/>
              <a:buChar char="•"/>
            </a:pPr>
            <a:r>
              <a:rPr lang="en-US" dirty="0">
                <a:solidFill>
                  <a:srgbClr val="00B0F0"/>
                </a:solidFill>
              </a:rPr>
              <a:t>Be willing to walk away: </a:t>
            </a:r>
            <a:r>
              <a:rPr lang="en-US" dirty="0"/>
              <a:t>Sometimes, reaching a mutually beneficial agreement may not be possible, and knowing when to walk away is essential. You can avoid getting stuck in a flawed agreement by being prepared to leave a deal that isn’t in your best interest.</a:t>
            </a:r>
            <a:endParaRPr lang="en-IN" dirty="0"/>
          </a:p>
        </p:txBody>
      </p:sp>
    </p:spTree>
    <p:extLst>
      <p:ext uri="{BB962C8B-B14F-4D97-AF65-F5344CB8AC3E}">
        <p14:creationId xmlns:p14="http://schemas.microsoft.com/office/powerpoint/2010/main" val="3026348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7F6199-48DE-027E-E405-CBA6F2A46AFF}"/>
              </a:ext>
            </a:extLst>
          </p:cNvPr>
          <p:cNvSpPr txBox="1"/>
          <p:nvPr/>
        </p:nvSpPr>
        <p:spPr>
          <a:xfrm>
            <a:off x="3048000" y="2001849"/>
            <a:ext cx="6096000" cy="2862322"/>
          </a:xfrm>
          <a:prstGeom prst="rect">
            <a:avLst/>
          </a:prstGeom>
          <a:noFill/>
        </p:spPr>
        <p:txBody>
          <a:bodyPr wrap="square">
            <a:spAutoFit/>
          </a:bodyPr>
          <a:lstStyle/>
          <a:p>
            <a:pPr algn="just"/>
            <a:r>
              <a:rPr lang="en-US" dirty="0">
                <a:solidFill>
                  <a:srgbClr val="00B0F0"/>
                </a:solidFill>
              </a:rPr>
              <a:t>Use evidence and data</a:t>
            </a:r>
            <a:r>
              <a:rPr lang="en-US" dirty="0"/>
              <a:t>: Persuasion is more effective when backed up by evidence and factual details. Use facts, statistics, and research to support your argument and provide concrete examples to illustrate your points.</a:t>
            </a:r>
          </a:p>
          <a:p>
            <a:pPr algn="just"/>
            <a:r>
              <a:rPr lang="en-US" dirty="0">
                <a:solidFill>
                  <a:srgbClr val="00B0F0"/>
                </a:solidFill>
              </a:rPr>
              <a:t>Be open to feedback and adjust your approach</a:t>
            </a:r>
            <a:r>
              <a:rPr lang="en-US" dirty="0"/>
              <a:t>: Persuasion is an iterative process, and it’s essential to be available for feedback and adapt your strategy as needed. Listen to objections and concerns and be willing to modify your proposal or approach to meet the needs of your audience better.</a:t>
            </a:r>
            <a:endParaRPr lang="en-IN" dirty="0"/>
          </a:p>
        </p:txBody>
      </p:sp>
      <p:sp>
        <p:nvSpPr>
          <p:cNvPr id="5" name="TextBox 4">
            <a:extLst>
              <a:ext uri="{FF2B5EF4-FFF2-40B4-BE49-F238E27FC236}">
                <a16:creationId xmlns:a16="http://schemas.microsoft.com/office/drawing/2014/main" id="{97047EF7-95F7-38A0-81E8-D300E811C809}"/>
              </a:ext>
            </a:extLst>
          </p:cNvPr>
          <p:cNvSpPr txBox="1"/>
          <p:nvPr/>
        </p:nvSpPr>
        <p:spPr>
          <a:xfrm>
            <a:off x="2005263" y="1178913"/>
            <a:ext cx="6096000" cy="369332"/>
          </a:xfrm>
          <a:prstGeom prst="rect">
            <a:avLst/>
          </a:prstGeom>
          <a:noFill/>
        </p:spPr>
        <p:txBody>
          <a:bodyPr wrap="square">
            <a:spAutoFit/>
          </a:bodyPr>
          <a:lstStyle/>
          <a:p>
            <a:r>
              <a:rPr lang="en-US" dirty="0" err="1"/>
              <a:t>Cont</a:t>
            </a:r>
            <a:r>
              <a:rPr lang="en-US" dirty="0"/>
              <a:t>…</a:t>
            </a:r>
            <a:endParaRPr lang="en-IN" dirty="0"/>
          </a:p>
        </p:txBody>
      </p:sp>
    </p:spTree>
    <p:extLst>
      <p:ext uri="{BB962C8B-B14F-4D97-AF65-F5344CB8AC3E}">
        <p14:creationId xmlns:p14="http://schemas.microsoft.com/office/powerpoint/2010/main" val="1511350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364FA4-A543-BBC0-EB6A-AFE944930EA0}"/>
              </a:ext>
            </a:extLst>
          </p:cNvPr>
          <p:cNvSpPr txBox="1"/>
          <p:nvPr/>
        </p:nvSpPr>
        <p:spPr>
          <a:xfrm>
            <a:off x="2919663" y="1210997"/>
            <a:ext cx="6096000" cy="369332"/>
          </a:xfrm>
          <a:prstGeom prst="rect">
            <a:avLst/>
          </a:prstGeom>
          <a:noFill/>
        </p:spPr>
        <p:txBody>
          <a:bodyPr wrap="square">
            <a:spAutoFit/>
          </a:bodyPr>
          <a:lstStyle/>
          <a:p>
            <a:r>
              <a:rPr lang="en-US"/>
              <a:t>Conclusion !</a:t>
            </a:r>
            <a:endParaRPr lang="en-IN" dirty="0"/>
          </a:p>
        </p:txBody>
      </p:sp>
      <p:sp>
        <p:nvSpPr>
          <p:cNvPr id="5" name="TextBox 4">
            <a:extLst>
              <a:ext uri="{FF2B5EF4-FFF2-40B4-BE49-F238E27FC236}">
                <a16:creationId xmlns:a16="http://schemas.microsoft.com/office/drawing/2014/main" id="{1A9B5476-B2AD-35B9-B35A-64C066BA7C18}"/>
              </a:ext>
            </a:extLst>
          </p:cNvPr>
          <p:cNvSpPr txBox="1"/>
          <p:nvPr/>
        </p:nvSpPr>
        <p:spPr>
          <a:xfrm>
            <a:off x="3048000" y="2278848"/>
            <a:ext cx="6096000" cy="2585323"/>
          </a:xfrm>
          <a:prstGeom prst="rect">
            <a:avLst/>
          </a:prstGeom>
          <a:noFill/>
        </p:spPr>
        <p:txBody>
          <a:bodyPr wrap="square">
            <a:spAutoFit/>
          </a:bodyPr>
          <a:lstStyle/>
          <a:p>
            <a:pPr marL="285750" indent="-285750">
              <a:buFont typeface="Arial" panose="020B0604020202020204" pitchFamily="34" charset="0"/>
              <a:buChar char="•"/>
            </a:pPr>
            <a:r>
              <a:rPr lang="en-US" b="1" dirty="0">
                <a:solidFill>
                  <a:srgbClr val="7030A0"/>
                </a:solidFill>
              </a:rPr>
              <a:t>In conclusion, </a:t>
            </a:r>
            <a:r>
              <a:rPr lang="en-US" dirty="0"/>
              <a:t>it’s essential to understand that persuasion and negotiation go hand-in-hand when managing people and situations. </a:t>
            </a:r>
          </a:p>
          <a:p>
            <a:pPr marL="285750" indent="-285750">
              <a:buFont typeface="Arial" panose="020B0604020202020204" pitchFamily="34" charset="0"/>
              <a:buChar char="•"/>
            </a:pPr>
            <a:r>
              <a:rPr lang="en-US" b="1" dirty="0">
                <a:solidFill>
                  <a:srgbClr val="FFC000"/>
                </a:solidFill>
              </a:rPr>
              <a:t>The ability to convince people </a:t>
            </a:r>
            <a:r>
              <a:rPr lang="en-US" dirty="0"/>
              <a:t>and arrive at a mutually agreeable outcome makes a manager’s job easier. </a:t>
            </a:r>
          </a:p>
          <a:p>
            <a:pPr marL="285750" indent="-285750">
              <a:buFont typeface="Arial" panose="020B0604020202020204" pitchFamily="34" charset="0"/>
              <a:buChar char="•"/>
            </a:pPr>
            <a:r>
              <a:rPr lang="en-US" b="1" dirty="0">
                <a:solidFill>
                  <a:srgbClr val="C00000"/>
                </a:solidFill>
              </a:rPr>
              <a:t>Persuasion is useful when you want someone to see your point of view convincingly</a:t>
            </a:r>
            <a:r>
              <a:rPr lang="en-US" dirty="0"/>
              <a:t>, and negotiation is beneficial when both parties wish to arrive at a win-win outcome.</a:t>
            </a:r>
            <a:endParaRPr lang="en-IN" dirty="0"/>
          </a:p>
        </p:txBody>
      </p:sp>
    </p:spTree>
    <p:extLst>
      <p:ext uri="{BB962C8B-B14F-4D97-AF65-F5344CB8AC3E}">
        <p14:creationId xmlns:p14="http://schemas.microsoft.com/office/powerpoint/2010/main" val="1370959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255</TotalTime>
  <Words>776</Words>
  <Application>Microsoft Office PowerPoint</Application>
  <PresentationFormat>Widescreen</PresentationFormat>
  <Paragraphs>36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Negotiation and Persuasion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dhruv gupta</dc:creator>
  <cp:lastModifiedBy>dhruv gupta</cp:lastModifiedBy>
  <cp:revision>1</cp:revision>
  <dcterms:created xsi:type="dcterms:W3CDTF">2026-01-05T07:21:09Z</dcterms:created>
  <dcterms:modified xsi:type="dcterms:W3CDTF">2026-01-05T14:41:47Z</dcterms:modified>
</cp:coreProperties>
</file>